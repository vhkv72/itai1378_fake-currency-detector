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C9-9547-AB1C-67B472B61AE3}"/>
              </c:ext>
            </c:extLst>
          </c:dPt>
          <c:dPt>
            <c:idx val="1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C9-9547-AB1C-67B472B61AE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C9-9547-AB1C-67B472B61AE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C9-9547-AB1C-67B472B61AE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fake</c:v>
                </c:pt>
                <c:pt idx="1">
                  <c:v>real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C9-9547-AB1C-67B472B61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8-5143-A3DE-FAF22B2193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B2A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Accuracy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Ep1</c:v>
                </c:pt>
                <c:pt idx="1">
                  <c:v>Ep2</c:v>
                </c:pt>
                <c:pt idx="2">
                  <c:v>Ep3</c:v>
                </c:pt>
                <c:pt idx="3">
                  <c:v>Ep4</c:v>
                </c:pt>
                <c:pt idx="4">
                  <c:v>Ep5</c:v>
                </c:pt>
                <c:pt idx="5">
                  <c:v>Ep6</c:v>
                </c:pt>
                <c:pt idx="6">
                  <c:v>Ep7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</c:v>
                </c:pt>
                <c:pt idx="1">
                  <c:v>0.95699999999999996</c:v>
                </c:pt>
                <c:pt idx="2">
                  <c:v>0.98599999999999999</c:v>
                </c:pt>
                <c:pt idx="3">
                  <c:v>1</c:v>
                </c:pt>
                <c:pt idx="4">
                  <c:v>0.97099999999999997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A87-B44A-A6B2-D5A178BD8E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1A7A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6E"/>
              </a:solidFill>
              <a:ln w="9525" cap="flat">
                <a:solidFill>
                  <a:srgbClr val="1A7A6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Ep1</c:v>
                </c:pt>
                <c:pt idx="1">
                  <c:v>Ep2</c:v>
                </c:pt>
                <c:pt idx="2">
                  <c:v>Ep3</c:v>
                </c:pt>
                <c:pt idx="3">
                  <c:v>Ep4</c:v>
                </c:pt>
                <c:pt idx="4">
                  <c:v>Ep5</c:v>
                </c:pt>
                <c:pt idx="5">
                  <c:v>Ep6</c:v>
                </c:pt>
                <c:pt idx="6">
                  <c:v>Ep7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A87-B44A-A6B2-D5A178BD8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01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CURRENCY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ResNet50 Transfer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32004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Vo</a:t>
            </a:r>
            <a:r>
              <a:rPr lang="en-US" sz="14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ITAI 1378 – Computer Vision   |   Tier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City College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457200"/>
            <a:ext cx="2834640" cy="42062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8229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💵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560320" cy="658368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2304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2560320" cy="658368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3081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3640" y="3392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2560320" cy="658368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imgs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4169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8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6400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money causes significant financial losses for individuals and businesses.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cash-based businesses lack expensive detection hardware.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checking is slow, error-prone, and unreliable.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Counterfeiting has become more sophisticated with modern printing technology.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64008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image classifier that predicts REAL or FAKE from a banknote photo.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~20ms — fast enough for real-time use at a cash register.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 — runs on a standard laptop or free Google Colab GPU.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ResNet50 transfer learning, fine-tuned on currency images.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20240" cy="20116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(50-layer CNN)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20240" cy="20116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20240" cy="20116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Torchvision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920240" cy="20116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/ CPU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46120"/>
            <a:ext cx="8503920" cy="15544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73152" cy="15544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ResNet50?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 vanishing gradients — training deep networks reliably.  </a:t>
            </a:r>
            <a:r>
              <a:rPr lang="en-US" sz="1300" b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1.2M ImageNet images</a:t>
            </a: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already knows edges, textures, and shapes before seeing a single banknote.  </a:t>
            </a:r>
            <a:r>
              <a:rPr lang="en-US" sz="1300" b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froze layers 1–3 and fine-tuned only Layer4 + custom FC head</a:t>
            </a: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 training, strong results, even on 100 images.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8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2344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Banknote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933956"/>
            <a:ext cx="914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81912" y="17785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097280"/>
            <a:ext cx="12344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8308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933956"/>
            <a:ext cx="914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99232" y="17785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097280"/>
            <a:ext cx="12344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5468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933956"/>
            <a:ext cx="914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17785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12344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1772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1933956"/>
            <a:ext cx="914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33872" y="17785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1097280"/>
            <a:ext cx="12344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8932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03504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Head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Dropout→256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→2 classes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69480" y="1933956"/>
            <a:ext cx="914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51192" y="17785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1097280"/>
            <a:ext cx="1234440" cy="1691640"/>
          </a:xfrm>
          <a:prstGeom prst="rect">
            <a:avLst/>
          </a:prstGeom>
          <a:solidFill>
            <a:srgbClr val="1A7A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06640" y="1170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452360" y="1719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2231136"/>
            <a:ext cx="10515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52360" y="2286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017520"/>
            <a:ext cx="8503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 Augmentation Pipeline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2920" y="352044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436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Random Crop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46120" y="352044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3756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Horizontal Flip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89320" y="352044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8076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Vertical Flip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406908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436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Rotation ±15°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46120" y="406908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3756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Color Jitter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89320" y="4069080"/>
            <a:ext cx="2468880" cy="411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8076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Random Grayscale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Details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36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36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Fake Currency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384048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86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386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 /  real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images (70%)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384048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136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images (15%)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images (15%)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384048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4261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μ / σ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663440" y="9144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1"/>
          <p:cNvGraphicFramePr/>
          <p:nvPr/>
        </p:nvGraphicFramePr>
        <p:xfrm>
          <a:off x="4663440" y="3520440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8DEE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9601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1005840"/>
            <a:ext cx="73152" cy="9601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26480" y="1078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1264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148840"/>
            <a:ext cx="2834640" cy="9601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73152" cy="9601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2221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2679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291840"/>
            <a:ext cx="2834640" cy="9601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0" y="3291840"/>
            <a:ext cx="73152" cy="9601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95%→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12648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657600"/>
            <a:ext cx="2834640" cy="1188720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0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Early Stopping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40965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at Epoch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(patience =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7830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39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 MET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17830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192024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1155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139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523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 MET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1920240" cy="17830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192024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11155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17720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139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523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 MET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005840"/>
            <a:ext cx="1920240" cy="17830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192024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11155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66560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139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balance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523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 MET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4114800" cy="64008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Inference Speed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19.80 ms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 |  Target: &lt; 1,000 ms  |  ✅ 98% faster than target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2971800"/>
            <a:ext cx="41148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Per-Class Results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493008"/>
          <a:ext cx="393192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8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640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16152"/>
            <a:ext cx="438912" cy="43891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Load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data/fake/ and data/real/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structure. Display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bar chart.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60520" cy="640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1216152"/>
            <a:ext cx="438912" cy="43891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13832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7099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training loop live.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epoch-by-epoch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in real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60520" cy="640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227832"/>
            <a:ext cx="438912" cy="43891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Show Results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21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confusion matrix,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plot, and final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test accuracy.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0632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160520" cy="640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3227832"/>
            <a:ext cx="438912" cy="43891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13832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721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predict_image() 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banknote photo.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REAL/FAKE +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Cases &amp; Honest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Worked Well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converged in just 2 epochs — ResNet50's ImageNet features transferred perfectly to currency images.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augmentation transforms prevented overfitting despite only 70 training images.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at epoch 7 saved compute and avoided overfitting plateau.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19.80ms inference is 98% faster than the 1-second target — ready for real-time use.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label smoothing improved generalization on a small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Honest Limitations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 images — 15 test images make 100% accuracy statistically less reliable than a larger test set would.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currency type — model may not generalize to other currencies (EUR, VND, etc.).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lighting — real-world performance may vary with phone cameras, shadows, crumpled bills.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Grad-CAM — we can't yet explain which parts of the bill the model inspects.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8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Transfer Learning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features from ImageNet (1.2M images) transferred effectively to currency detection. You don't need millions of domain images when a strong backbone already knows shapes and textures.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033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Augmentation is Regularization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transforms (flip, rotate, color jitter, etc.) acted as implicit regularization. The model never saw the same image twice — this is why it generalized despite only 70 training images.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Small Datasets Need Extra Care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(0.1), AdamW weight decay, and dropout all contributed to preventing overconfidence. Each one alone might not matter — together they made the model robust.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Always Report Dataset 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on 15 test images sounds great but means 15/15 correct. Always report the test set size alongside metrics so readers can judge reliability properly.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Fine-tuning Strategy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layers 1–3 and fine-tuning only Layer4 + FC head meant ~30× fewer trainable parameters than full fine-tuning — training was 4× faster with comparable results.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947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794760"/>
            <a:ext cx="64008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CPU Inference is Viable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2519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19.80ms on CPU means this system doesn't need a GPU in production. A Raspberry Pi or standard laptop could run it at a cash register.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794760" cy="182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1,000+ images across multiple currencies (USD, EUR, VND, MXN) and varied lighting conditions. More data = better generalization.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6052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605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1691640"/>
            <a:ext cx="3794760" cy="182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heatmaps to highlight which regions of the bill the model focuses on. Makes predictions interpretable and builds user trust.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6052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794760" cy="182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 to ONNX or TensorFlow Lite for deployment as a smartphone app. A business owner could scan bills with their phone camera.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16052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926080"/>
            <a:ext cx="41605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+ Human Review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3611880"/>
            <a:ext cx="3794760" cy="182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predictions below 90% confidence for manual review instead of making a binary call. Reduces false positives in ambiguous cases.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36576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GitHub: github.com/vhkv72/ITAI1378_Fake-Currency-Detector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Student: Vy Vo  |  ITAI 1378  |  HCC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kaggle.com/datasets/mdladla/fake-currency-data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457200"/>
            <a:ext cx="2606040" cy="42062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594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51560"/>
            <a:ext cx="251460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088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088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801368"/>
            <a:ext cx="251460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837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837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2551176"/>
            <a:ext cx="251460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300984"/>
            <a:ext cx="251460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19.80ms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712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imgs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050792"/>
            <a:ext cx="2514600" cy="347472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4087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4087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Met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5577840" cy="109728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Usage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151376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proposal organization and README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notebook structure, augmentation strategy, documentation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student code  |  ~35% AI-assisted  |  Full log: docs/AI_usage_log.md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1149</Words>
  <Application>Microsoft Macintosh PowerPoint</Application>
  <PresentationFormat>On-screen Show (16:9)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Currency Detector – Final Presentation</dc:title>
  <dc:subject>PptxGenJS Presentation</dc:subject>
  <dc:creator>Vy Vo</dc:creator>
  <cp:lastModifiedBy>vy.vo2-W214040771</cp:lastModifiedBy>
  <cp:revision>2</cp:revision>
  <dcterms:created xsi:type="dcterms:W3CDTF">2026-05-10T02:13:25Z</dcterms:created>
  <dcterms:modified xsi:type="dcterms:W3CDTF">2026-05-10T02:24:11Z</dcterms:modified>
</cp:coreProperties>
</file>